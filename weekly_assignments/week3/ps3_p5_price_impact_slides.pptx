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15"/>
  </p:sldIdLst>
  <p:sldSz cy="10287000" cx="18288000"/>
  <p:notesSz cx="6858000" cy="9144000"/>
  <p:embeddedFontLst>
    <p:embeddedFont>
      <p:font typeface="Playfair Display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fairDisplay-regular.fntdata"/><Relationship Id="rId8" Type="http://schemas.openxmlformats.org/officeDocument/2006/relationships/font" Target="fonts/PlayfairDisplay-bold.fntdata"/><Relationship Id="rId9" Type="http://schemas.openxmlformats.org/officeDocument/2006/relationships/font" Target="fonts/PlayfairDisplay-italic.fntdata"/><Relationship Id="rId10" Type="http://schemas.openxmlformats.org/officeDocument/2006/relationships/font" Target="fonts/PlayfairDisplay-boldItalic.fntdata"/><Relationship Id="rId11" Type="http://schemas.openxmlformats.org/officeDocument/2006/relationships/font" Target="fonts/Lato-regular.fntdata"/><Relationship Id="rId12" Type="http://schemas.openxmlformats.org/officeDocument/2006/relationships/font" Target="fonts/Lato-bold.fntdata"/><Relationship Id="rId13" Type="http://schemas.openxmlformats.org/officeDocument/2006/relationships/font" Target="fonts/Lato-italic.fntdata"/><Relationship Id="rId14" Type="http://schemas.openxmlformats.org/officeDocument/2006/relationships/font" Target="fonts/Lato-boldItalic.fntdata"/><Relationship Id="rId15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fill means one of our posted orders trades. A bid fill makes us long, so the A–S model moves both quotes down to reduce inventory; an ask fill does the reverse. Do not confuse the forty-cent quote response with the five- or ten-cent adverse market impact tested in Problem 5.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Across one thousand simulated days, mean terminal P&amp;L falls from about 2,573 dollars with no impact to 2,476 dollars at five cents per fill and 2,379 dollars at ten cents per fill. That is a 3.8 and 7.5 percent reduction. The nearly straight line follows from our linear impact assumption: some apparent spread profit disappears once fills predict adverse price moves.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379600" y="5407525"/>
            <a:ext cx="17404500" cy="36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379600" y="1632650"/>
            <a:ext cx="17328600" cy="3168600"/>
          </a:xfrm>
          <a:prstGeom prst="rect">
            <a:avLst/>
          </a:prstGeom>
          <a:noFill/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44600" y="5617225"/>
            <a:ext cx="16398600" cy="3262800"/>
          </a:xfrm>
          <a:prstGeom prst="rect">
            <a:avLst/>
          </a:prstGeom>
          <a:noFill/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019100" y="2847750"/>
            <a:ext cx="16249800" cy="3596400"/>
          </a:xfrm>
          <a:prstGeom prst="rect">
            <a:avLst/>
          </a:prstGeom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019100" y="2847750"/>
            <a:ext cx="16249800" cy="359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34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96648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71000" y="12636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623400" y="2782755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CCCCC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980500" y="1052700"/>
            <a:ext cx="153420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639000" y="8461150"/>
            <a:ext cx="11997600" cy="1197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>
                <a:solidFill>
                  <a:srgbClr val="000000"/>
                </a:solidFill>
              </a:defRPr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623400" y="2466200"/>
            <a:ext cx="17041200" cy="3220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23400" y="5838900"/>
            <a:ext cx="17041200" cy="21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50850" lvl="1" marL="9144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 algn="ctr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1pPr>
            <a:lvl2pPr indent="-45085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2pPr>
            <a:lvl3pPr indent="-45085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3pPr>
            <a:lvl4pPr indent="-45085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4pPr>
            <a:lvl5pPr indent="-45085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5pPr>
            <a:lvl6pPr indent="-45085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6pPr>
            <a:lvl7pPr indent="-45085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7pPr>
            <a:lvl8pPr indent="-45085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8pPr>
            <a:lvl9pPr indent="-45085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600"/>
            </a:lvl1pPr>
            <a:lvl2pPr lvl="1" algn="r">
              <a:buNone/>
              <a:defRPr sz="2600"/>
            </a:lvl2pPr>
            <a:lvl3pPr lvl="2" algn="r">
              <a:buNone/>
              <a:defRPr sz="2600"/>
            </a:lvl3pPr>
            <a:lvl4pPr lvl="3" algn="r">
              <a:buNone/>
              <a:defRPr sz="2600"/>
            </a:lvl4pPr>
            <a:lvl5pPr lvl="4" algn="r">
              <a:buNone/>
              <a:defRPr sz="2600"/>
            </a:lvl5pPr>
            <a:lvl6pPr lvl="5" algn="r">
              <a:buNone/>
              <a:defRPr sz="2600"/>
            </a:lvl6pPr>
            <a:lvl7pPr lvl="6" algn="r">
              <a:buNone/>
              <a:defRPr sz="2600"/>
            </a:lvl7pPr>
            <a:lvl8pPr lvl="7" algn="r">
              <a:buNone/>
              <a:defRPr sz="2600"/>
            </a:lvl8pPr>
            <a:lvl9pPr lvl="8" algn="r">
              <a:buNone/>
              <a:defRPr sz="2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17162" y="260575"/>
            <a:ext cx="3053676" cy="480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1"/>
          <p:cNvCxnSpPr/>
          <p:nvPr/>
        </p:nvCxnSpPr>
        <p:spPr>
          <a:xfrm>
            <a:off x="417550" y="493750"/>
            <a:ext cx="690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1"/>
          <p:cNvCxnSpPr/>
          <p:nvPr/>
        </p:nvCxnSpPr>
        <p:spPr>
          <a:xfrm>
            <a:off x="10913325" y="500913"/>
            <a:ext cx="690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ounded Rectangle 16"/>
          <p:cNvSpPr/>
          <p:nvPr/>
        </p:nvSpPr>
        <p:spPr>
          <a:xfrm>
            <a:off x="10287000" y="1353312"/>
            <a:ext cx="2011680" cy="640080"/>
          </a:xfrm>
          <a:prstGeom prst="roundRect">
            <a:avLst/>
          </a:prstGeom>
          <a:solidFill>
            <a:srgbClr val="990000"/>
          </a:solidFill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53312"/>
            <a:ext cx="2011680" cy="640080"/>
          </a:xfrm>
          <a:prstGeom prst="roundRect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91919"/>
                </a:solidFill>
                <a:latin typeface="Arial"/>
              </a:rPr>
              <a:t>What happens after a fill?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20116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BID FILL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2514600" cy="1234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78608"/>
            <a:ext cx="2240280" cy="39319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rial"/>
              </a:rPr>
              <a:t>We buy 1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44952"/>
            <a:ext cx="224028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rial"/>
              </a:rPr>
              <a:t>inventory q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423160"/>
            <a:ext cx="2514600" cy="1234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578608"/>
            <a:ext cx="2240280" cy="39319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rial"/>
              </a:rPr>
              <a:t>Reservation price falls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044952"/>
            <a:ext cx="224028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rial"/>
              </a:rPr>
              <a:t>r = S − qγσ²τ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423160"/>
            <a:ext cx="2514600" cy="1234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578608"/>
            <a:ext cx="2240280" cy="39319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rial"/>
              </a:rPr>
              <a:t>Both quotes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044952"/>
            <a:ext cx="224028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rial"/>
              </a:rPr>
              <a:t>buy less · sell sooner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46120" y="2852928"/>
            <a:ext cx="594360" cy="384048"/>
          </a:xfrm>
          <a:prstGeom prst="rightArrow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6309360" y="2852928"/>
            <a:ext cx="594360" cy="384048"/>
          </a:xfrm>
          <a:prstGeom prst="rightArrow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1417320"/>
            <a:ext cx="20116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ASK FILL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423160"/>
            <a:ext cx="2240280" cy="1234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2578608"/>
            <a:ext cx="2020824" cy="39319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91919"/>
                </a:solidFill>
                <a:latin typeface="Arial"/>
              </a:rPr>
              <a:t>We sell 1 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3044952"/>
            <a:ext cx="2020824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464646"/>
                </a:solidFill>
                <a:latin typeface="Arial"/>
              </a:rPr>
              <a:t>inventory q decreases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93040" y="2423160"/>
            <a:ext cx="2240280" cy="1234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02767" y="2578608"/>
            <a:ext cx="2020824" cy="39319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91919"/>
                </a:solidFill>
                <a:latin typeface="Arial"/>
              </a:rPr>
              <a:t>Reservation price rises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02767" y="3044952"/>
            <a:ext cx="2020824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464646"/>
                </a:solidFill>
                <a:latin typeface="Arial"/>
              </a:rPr>
              <a:t>move back toward q =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681959" y="2423160"/>
            <a:ext cx="2240280" cy="1234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791688" y="2578608"/>
            <a:ext cx="2020824" cy="39319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91919"/>
                </a:solidFill>
                <a:latin typeface="Arial"/>
              </a:rPr>
              <a:t>Both quotes move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91688" y="3044952"/>
            <a:ext cx="2020824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464646"/>
                </a:solidFill>
                <a:latin typeface="Arial"/>
              </a:rPr>
              <a:t>buy sooner · sell less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2362688" y="2852928"/>
            <a:ext cx="438912" cy="384048"/>
          </a:xfrm>
          <a:prstGeom prst="rightArrow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15243048" y="2852928"/>
            <a:ext cx="365760" cy="384048"/>
          </a:xfrm>
          <a:prstGeom prst="rightArrow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4663440"/>
            <a:ext cx="164592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892040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CC0000"/>
                </a:solidFill>
                <a:latin typeface="Arial"/>
              </a:rPr>
              <a:t>Two different effects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4846320"/>
            <a:ext cx="3337560" cy="4389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rial"/>
              </a:rPr>
              <a:t>A–S quote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5376672"/>
            <a:ext cx="333756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CC0000"/>
                </a:solidFill>
                <a:latin typeface="Arial"/>
              </a:rPr>
              <a:t>$0.40 per fill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138928"/>
            <a:ext cx="9144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464646"/>
                </a:solidFill>
                <a:latin typeface="Arial"/>
              </a:rPr>
              <a:t>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4846320"/>
            <a:ext cx="4114800" cy="4389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rial"/>
              </a:rPr>
              <a:t>Adverse market impact tested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5376672"/>
            <a:ext cx="41148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CC0000"/>
                </a:solidFill>
                <a:latin typeface="Arial"/>
              </a:rPr>
              <a:t>$0.05 / $0.10 per fill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18920" y="4828032"/>
            <a:ext cx="25603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rial"/>
              </a:rPr>
              <a:t>our policy reacts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18920" y="5504688"/>
            <a:ext cx="25603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rial"/>
              </a:rPr>
              <a:t>the market reacts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8001000"/>
            <a:ext cx="16459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191919"/>
                </a:solidFill>
                <a:latin typeface="Arial"/>
              </a:rPr>
              <a:t>Goal: test how much the independence assumption overstates P&amp;L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91919"/>
                </a:solidFill>
                <a:latin typeface="Arial"/>
              </a:rPr>
              <a:t>Price impact erodes expected P&amp;L</a:t>
            </a:r>
          </a:p>
        </p:txBody>
      </p:sp>
      <p:pic>
        <p:nvPicPr>
          <p:cNvPr id="3" name="Picture 2" descr="ps3_p5_mean_pnl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1155680" cy="6903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207240" y="1417320"/>
            <a:ext cx="49377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0">
                <a:solidFill>
                  <a:srgbClr val="464646"/>
                </a:solidFill>
                <a:latin typeface="Arial"/>
              </a:rPr>
              <a:t>1,000 simulated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207240" y="2103120"/>
            <a:ext cx="4937760" cy="135331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81560" y="2258568"/>
            <a:ext cx="21488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464646"/>
                </a:solidFill>
                <a:latin typeface="Arial"/>
              </a:rPr>
              <a:t>$0.00 / fill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81560" y="2670048"/>
            <a:ext cx="2148840" cy="52120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$2,573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2542032"/>
            <a:ext cx="1874519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2700" b="1">
                <a:solidFill>
                  <a:srgbClr val="464646"/>
                </a:solidFill>
                <a:latin typeface="Arial"/>
              </a:rPr>
              <a:t>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07240" y="3840480"/>
            <a:ext cx="4937760" cy="135331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81560" y="3995928"/>
            <a:ext cx="21488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464646"/>
                </a:solidFill>
                <a:latin typeface="Arial"/>
              </a:rPr>
              <a:t>$0.05 /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81560" y="4407408"/>
            <a:ext cx="2148840" cy="52120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$2,476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59000" y="4279392"/>
            <a:ext cx="1874519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2700" b="1">
                <a:solidFill>
                  <a:srgbClr val="CC0000"/>
                </a:solidFill>
                <a:latin typeface="Arial"/>
              </a:rPr>
              <a:t>−3.8%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207240" y="5577840"/>
            <a:ext cx="4937760" cy="135331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81560" y="5733288"/>
            <a:ext cx="21488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464646"/>
                </a:solidFill>
                <a:latin typeface="Arial"/>
              </a:rPr>
              <a:t>$0.10 / fill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81560" y="6144768"/>
            <a:ext cx="2148840" cy="52120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$2,379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59000" y="6016752"/>
            <a:ext cx="1874519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2700" b="1">
                <a:solidFill>
                  <a:srgbClr val="CC0000"/>
                </a:solidFill>
                <a:latin typeface="Arial"/>
              </a:rPr>
              <a:t>−7.5%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207240" y="7452360"/>
            <a:ext cx="4937760" cy="1161288"/>
          </a:xfrm>
          <a:prstGeom prst="roundRect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0" y="7589520"/>
            <a:ext cx="448056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Ignoring own-price impact
overstates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Rectangle">
  <a:themeElements>
    <a:clrScheme name="Coral">
      <a:dk1>
        <a:srgbClr val="CC0000"/>
      </a:dk1>
      <a:lt1>
        <a:srgbClr val="FFFFFF"/>
      </a:lt1>
      <a:dk2>
        <a:srgbClr val="6D6D6D"/>
      </a:dk2>
      <a:lt2>
        <a:srgbClr val="C3C3C3"/>
      </a:lt2>
      <a:accent1>
        <a:srgbClr val="990000"/>
      </a:accent1>
      <a:accent2>
        <a:srgbClr val="008473"/>
      </a:accent2>
      <a:accent3>
        <a:srgbClr val="427E93"/>
      </a:accent3>
      <a:accent4>
        <a:srgbClr val="D14905"/>
      </a:accent4>
      <a:accent5>
        <a:srgbClr val="FAC800"/>
      </a:accent5>
      <a:accent6>
        <a:srgbClr val="6F7D1C"/>
      </a:accent6>
      <a:hlink>
        <a:srgbClr val="CC0000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