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2743200" cy="43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6517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990000"/>
                </a:solidFill>
                <a:latin typeface="Arial"/>
              </a:rPr>
              <a:t>Week 4 — Stochastic Optimal Control</a:t>
            </a:r>
          </a:p>
          <a:p>
            <a:r>
              <a:rPr sz="1800" b="0" i="1">
                <a:solidFill>
                  <a:srgbClr val="6D6D6D"/>
                </a:solidFill>
                <a:latin typeface="Arial"/>
              </a:rPr>
              <a:t>The general theory behind the Avellaneda-Stoikov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Arial"/>
              </a:rPr>
              <a:t>Optimal Market Making for Cryptocurrency Options  ·  NC State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Learning objectives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Lecture 1: Dynamic Programming &amp; HJB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Lecture 2: Verification &amp; Utilities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Illustration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Derivation &amp; rationale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Getting the data from Coincall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Code: week4_merton.py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Summary &amp; key takeaways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Glossary of key terms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Reading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Apply the dynamic programming principle in continuous time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Understand the HJB equation and the verification theorem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See why CARA / CRRA utilities give tractable problems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Lecture 1: Dynamic Programming &amp; HJB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Controlled diffusions and admissible controls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The dynamic programming principle (Bellman)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The infinitesimal generator and the HJB equation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Lecture 2: Verification &amp; Utilities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Verification theorem: a smooth HJB solution IS the value function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CARA vs CRRA: where wealth enters the optimal policy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Why market making uses CARA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2860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11480"/>
            <a:ext cx="8961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990000"/>
                </a:solidFill>
                <a:latin typeface="Arial"/>
              </a:rPr>
              <a:t>Illustration</a:t>
            </a:r>
          </a:p>
        </p:txBody>
      </p:sp>
      <p:pic>
        <p:nvPicPr>
          <p:cNvPr id="4" name="Picture 3" descr="week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371600"/>
            <a:ext cx="9601200" cy="52567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Key Equations &amp; Why We Choose Them</a:t>
            </a:r>
          </a:p>
          <a:p>
            <a:r>
              <a:rPr sz="1300" b="0" i="1">
                <a:solidFill>
                  <a:srgbClr val="6D6D6D"/>
                </a:solidFill>
                <a:latin typeface="Arial"/>
              </a:rPr>
              <a:t>Full derivations in the PDF deck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V(t,x)=\sup_{u}\ \mathbb{E}\!\left[\int_t^T f(s,X_s,u_s)\,ds + g(X_T)\right]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why: The value function is the best achievable expected reward from $(t,x)$ onward. We define the whole problem through $V$ because Bellman's principle then gives a local (differential) equation instead of an intractable global optimization.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V(t,x)=\sup_u \mathbb{E}\big[V(t{+}dt, X_{t+dt}) + f\,dt\big]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why: The dynamic programming principle: an optimal policy is optimal from every later state too. Expanding $V(t+dt,\cdot)$ with Ito's lemma turns this into the HJB PDE.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\partial_t V + \sup_{u}\big\{\mathcal{L}^u V + f(t,x,u)\big\}=0,\quad V(T,x)=g(x)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why: The HJB equation. $\mathcal{L}^u$ is the generator of the controlled diffusion; the $\sup$ is the instantaneous optimal control. This is the engine behind every model in the course -- Avellaneda-Stoikov is one special case.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\text{CARA: } U(w)=-e^{-\gamma w}\ \Rightarrow\ \text{policy independent of } w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why: Constant absolute risk aversion makes marginal utility scale-free in wealth, so the optimal quotes do not move with the cash balance. CRRA ($U=w^{1-\gamma}/(1-\gamma)$) instead makes the policy scale WITH wealth -- natural for investment, awkward for a desk.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Getting the Data from Coincall</a:t>
            </a:r>
          </a:p>
          <a:p>
            <a:r>
              <a:rPr sz="1300" b="0" i="1">
                <a:solidFill>
                  <a:srgbClr val="6D6D6D"/>
                </a:solidFill>
                <a:latin typeface="Arial"/>
              </a:rPr>
              <a:t>Cross-check exact paths at https://docs.coincall.com/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Theory week -- no Coincall data required.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Optional: estimate drift/vol from perp klines to parameterize Merton.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990000"/>
                </a:solidFill>
                <a:latin typeface="Arial"/>
              </a:rPr>
              <a:t>Code — week4_merton.py -- HJB value iteration (CARA) in PyTorch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47120" cy="5394960"/>
          </a:xfrm>
          <a:prstGeom prst="rect">
            <a:avLst/>
          </a:prstGeom>
          <a:solidFill>
            <a:srgbClr val="F5F5F5"/>
          </a:solidFill>
          <a:ln w="9525">
            <a:solidFill>
              <a:srgbClr val="6D6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import torch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# Merton under CARA, solved by backward value iteration on a wealth grid.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w = torch.linspace(-5, 5, 401); dt = 1e-3; mu, r, sig, gam = 0.08, 0.02, 0.2, 1.0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V = -torch.exp(-gam * w)                      # terminal utility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for _ in range(1000):                         # march backward in time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# optimal risky holding pi* = (mu - r)/(gam*sig^2) is wealth-independent (CARA)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pi = (mu - r) / (gam * sig**2)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drift = (r*w + pi*(mu - r))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diff  = 0.5 * (pi*sig)**2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dV = torch.gradient(V, spacing=(w[1]-w[0]).item())[0]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d2V = torch.gradient(dV, spacing=(w[1]-w[0]).item())[0]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V = V + dt * (drift*dV + diff*d2V)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print("pi* (constant in wealth):", (mu - r)/(gam*sig**2))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Summary — 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Dynamic programming -&gt; HJB is the engine behind every model in the course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The verification theorem certifies that an HJB solution is THE value function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CARA makes the optimal policy wealth-independent (ideal for a desk)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CRRA makes the policy scale with wealth (ideal for investment)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Avellaneda-Stoikov is one special case of this general template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Glossary — Key Terms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Stochastic optimal control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choosing controls to optimize an expected objective under randomness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Dynamic programming principle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an optimal policy stays optimal from every later state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Value function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the best achievable expected reward from a given state onward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Infinitesimal generator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operator giving the expected instantaneous change of a function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Verification theorem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conditions under which an HJB solution is the value function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CRRA utility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constant relative risk aversion; the policy scales with wealth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Admissible control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a control satisfying the problem's constraints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Reading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Pham (2009), Ch. 3-4; Cartea-Jaikumar-Penalva, Ch. 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Pham, H. (2009). Continuous-time Stochastic Control and Optimization with Financial Applications. Springer.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Fleming, W. H., &amp; Soner, H. M. (2006). Controlled Markov Processes and Viscosity Solutions (2nd ed.). Springer.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Oksendal, B. (2003). Stochastic Differential Equations (6th ed.). Springer.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Almgren, R., &amp; Chriss, N. (2001). Optimal execution of portfolio transactions. Journal of Risk, 3(2), 5-40.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