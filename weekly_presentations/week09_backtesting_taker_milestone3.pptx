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2743200" cy="431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6517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990000"/>
                </a:solidFill>
                <a:latin typeface="Arial"/>
              </a:rPr>
              <a:t>Week 9 — Backtesting, Risk Analysis &amp; Taker Strategies</a:t>
            </a:r>
          </a:p>
          <a:p>
            <a:r>
              <a:rPr sz="1800" b="0" i="1">
                <a:solidFill>
                  <a:srgbClr val="6D6D6D"/>
                </a:solidFill>
                <a:latin typeface="Arial"/>
              </a:rPr>
              <a:t>Assembling the full system -- Milestone 3 (Coincall guest session)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Arial"/>
              </a:rPr>
              <a:t>Optimal Market Making for Cryptocurrency Options  ·  NC State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Learning objectives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Lecture 1: Backtest Architecture &amp; Risk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Lecture 2 (Guest: Fenni Kang, Coincall): Taker Strategies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Illustration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Derivation &amp; rationale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Getting the data from Coincall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Code: week9_attribution.py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Summary &amp; key takeaways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Glossary of key terms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Reading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Learning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Build an event-driven options backtest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Produce a full P&amp;L attribution and risk metrics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Understand taker strategies and order-flow toxicity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Lecture 1: Backtest Architecture &amp; Risk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Event-driven simulation with deterministic replay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Fill simulator; state of inventory and Greeks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Pitfalls: look-ahead, unrealistic fills, expiry handling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Sharpe with block-bootstrap confidence intervals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Lecture 2 (Guest: Fenni Kang, Coincall): Taker Strategies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When and why takers cross the spread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Signals behind aggressive flow: momentum, liquidations, news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What taker behaviour means for the maker's toxicity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2860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11480"/>
            <a:ext cx="8961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990000"/>
                </a:solidFill>
                <a:latin typeface="Arial"/>
              </a:rPr>
              <a:t>Illustration</a:t>
            </a:r>
          </a:p>
        </p:txBody>
      </p:sp>
      <p:pic>
        <p:nvPicPr>
          <p:cNvPr id="4" name="Picture 3" descr="week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371600"/>
            <a:ext cx="9601200" cy="56605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Key Equations &amp; Why We Choose Them</a:t>
            </a:r>
          </a:p>
          <a:p>
            <a:r>
              <a:rPr sz="1300" b="0" i="1">
                <a:solidFill>
                  <a:srgbClr val="6D6D6D"/>
                </a:solidFill>
                <a:latin typeface="Arial"/>
              </a:rPr>
              <a:t>Full derivations in the PDF deck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\widehat{SR}=\frac{\bar r}{s_r}\sqrt{252},\quad \text{CI via block bootstrap on } \{r_t\}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why: Daily Sharpe is annualized by $\sqrt{252}$, but a point estimate over a few months is noisy and serially correlated. We resample BLOCKS of returns (preserving autocorrelation) to get an honest confidence interval -- a high Sharpe with a wide CI is not a real edge.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Getting the Data from Coincall</a:t>
            </a:r>
          </a:p>
          <a:p>
            <a:r>
              <a:rPr sz="1300" b="0" i="1">
                <a:solidFill>
                  <a:srgbClr val="6D6D6D"/>
                </a:solidFill>
                <a:latin typeface="Arial"/>
              </a:rPr>
              <a:t>Cross-check exact paths at https://docs.coincall.com/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Full options L2 + trades + perp + funding for 3 months: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coincall_btc_options_l2_2025Q4.parquet / ..._trades_...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coincall_eth_options_l2_2025Q4.parquet / ..._trades_...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coincall_btc_eth_perp_l2_2025Q4.parquet ; coincall_funding_rates_...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Klines for regime context: GET /open/option/market/kline/history/v1/{name}?period=h1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Trade tape carries mark IV at trade -&gt; calibrate the fill simulator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990000"/>
                </a:solidFill>
                <a:latin typeface="Arial"/>
              </a:rPr>
              <a:t>Code — week9_attribution.py -- P&amp;L attribution + bootstrap Sharpe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47120" cy="5394960"/>
          </a:xfrm>
          <a:prstGeom prst="rect">
            <a:avLst/>
          </a:prstGeom>
          <a:solidFill>
            <a:srgbClr val="F5F5F5"/>
          </a:solidFill>
          <a:ln w="9525">
            <a:solidFill>
              <a:srgbClr val="6D6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import numpy as np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def attribute(spread, inventory, gamma, hedging):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total = spread + inventory + gamma + hedging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assert abs(total.sum() - (spread.sum()+inventory.sum()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           +gamma.sum()+hedging.sum())) &lt; 1e-6           # must sum to total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return dict(spread=spread, inventory=inventory, gamma=gamma,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            hedging=hedging, total=total)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def bootstrap_sharpe(r, block=5, n=2000, seed=0):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rng = np.random.default_rng(seed); T = len(r); out = []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for _ in range(n):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    idx = (rng.integers(0, T-block, T//block)[:,None] + np.arange(block)).ravel()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    s = r[idx]; out.append(s.mean()/s.std()*np.sqrt(252))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return np.percentile(out, [2.5, 50, 97.5])               # CI for the Sharpe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Summary — 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Event-driven, deterministic replay; beware look-ahead and 100% fills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Attribution MUST sum to total P&amp;L -- a mismatch is always a bug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Report Sharpe with a block-bootstrap CI, not a bare point estimate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Taker flow (guest lecture) shapes the toxicity the maker must price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Milestone 3: full backtest on 3 months BTC &amp; ETH, with a drawdown forensic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Glossary — Key Terms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Event-driven backtest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a simulation that replays timestamped events in order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Deterministic replay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bitwise-identical results on re-run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Look-ahead bias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using information not available at decision time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Sharpe ratio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risk-adjusted return: annualized mean over standard deviation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Block bootstrap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resampling blocks of returns for a CI that keeps autocorrelation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Maximum drawdown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the largest peak-to-trough decline in equity</a:t>
            </a:r>
          </a:p>
          <a:p>
            <a:pPr>
              <a:spcAft>
                <a:spcPts val="700"/>
              </a:spcAft>
            </a:pPr>
            <a:r>
              <a:rPr sz="1500" b="1" i="0">
                <a:solidFill>
                  <a:srgbClr val="CC0000"/>
                </a:solidFill>
                <a:latin typeface="Arial"/>
              </a:rPr>
              <a:t>Taker strategy — </a:t>
            </a:r>
            <a:r>
              <a:rPr sz="1500" b="0" i="0">
                <a:solidFill>
                  <a:srgbClr val="1A1A1A"/>
                </a:solidFill>
                <a:latin typeface="Arial"/>
              </a:rPr>
              <a:t>aggressive, spread-crossing execution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Reading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Cartea et al., Ch. 10-11; Bailey-Lopez de Prado (2014); Lopez de Prado (2018)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Cartea, Jaikumar, &amp; Penalva (2015). Algorithmic and High-Frequency Trading, Ch. 10-11.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Bailey, D. H., &amp; Lopez de Prado, M. (2014). The deflated Sharpe ratio. Journal of Portfolio Management, 40(5), 94-107.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Lopez de Prado, M. (2018). Advances in Financial Machine Learning. Wiley.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Coincall API documentation. https://docs.coincall.com/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