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7432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990000"/>
                </a:solidFill>
                <a:latin typeface="Arial"/>
              </a:rPr>
              <a:t>Week 5 — The Avellaneda-Stoikov Engine</a:t>
            </a:r>
          </a:p>
          <a:p>
            <a:r>
              <a:rPr sz="1800" b="0" i="1">
                <a:solidFill>
                  <a:srgbClr val="6D6D6D"/>
                </a:solidFill>
                <a:latin typeface="Arial"/>
              </a:rPr>
              <a:t>Implementation, calibration, and backtest -- Milestone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Optimal Market Making for Cryptocurrency Options  ·  NC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Learning objectives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Lecture 1: From Closed Form to Code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Lecture 2: Calibration &amp; Validation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Illustration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Derivation &amp; rationale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Getting the data from Coincall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Code: week5_calibrate.py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Summary &amp; key takeaways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Glossary of key terms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Reading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Implement the quotes as a tested PyTorch engine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Calibrate the fill intensities by maximum likelihood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Backtest on one month of Coincall BTC-PERP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1: From Closed Form to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Engine architecture; state from the L2 book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Map continuous-time quantities to discrete events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Calibrate lambda(delta) = A exp(-kappa delta) from fills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2: Calibration &amp;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Maximum-likelihood fit of A and kappa with goodness-of-fit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Replay engine + fill simulator + P&amp;L attribution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Reproducibility under a fixed seed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2860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1148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990000"/>
                </a:solidFill>
                <a:latin typeface="Arial"/>
              </a:rPr>
              <a:t>Illustration</a:t>
            </a:r>
          </a:p>
        </p:txBody>
      </p:sp>
      <p:pic>
        <p:nvPicPr>
          <p:cNvPr id="4" name="Picture 3" descr="week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371600"/>
            <a:ext cx="9601200" cy="52251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Key Equations &amp; Why We Choose Them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Full derivations in the PDF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\mathcal{L}(A,\kappa)=\prod_i \lambda(\delta_i)\,e^{-\lambda(\delta_i)\,\Delta t_i}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Fills are a (doubly stochastic) Poisson process, so the likelihood of the observed fills given quote distances $\delta_i$ is a product of Poisson densities. We fit by MAXIMUM LIKELIHOOD rather than least-squares because the data are event counts, not Gaussian residuals.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-\ln\mathcal{L} = \sum_i\big[\lambda(\delta_i)\Delta t_i - \ln\lambda(\delta_i)\big]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Minimizing this negative log-likelihood is convex in $\ln A$ and well-behaved in $\kappa$; PyTorch autograd gives the gradients, so a few hundred Adam steps converge.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Getting the Data from Coincall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Cross-check exact paths at https://docs.coincall.com/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Build the intensity-calibration set from trades vs. your quotes: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Trades:  GET /open/option/trade/lasttrade/v1/{symbol}  (or trade history)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Book:    GET /open/futures/order/orderbook/v1/{symbol}  for the mid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Offline: coincall_btc_perp_trades_2025Q4.parquet + ..._l2_2025Q4.parquet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A pre-aggregated coincall_intensity_calibration_set.parquet is provided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delta_i = |fill price - mid at fill|; group fills by delta bucket for the MLE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990000"/>
                </a:solidFill>
                <a:latin typeface="Arial"/>
              </a:rPr>
              <a:t>Code — week5_calibrate.py -- intensity MLE with PyTorch autograd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5394960"/>
          </a:xfrm>
          <a:prstGeom prst="rect">
            <a:avLst/>
          </a:prstGeom>
          <a:solidFill>
            <a:srgbClr val="F5F5F5"/>
          </a:solidFill>
          <a:ln w="9525">
            <a:solidFill>
              <a:srgbClr val="6D6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import torch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# delta: quote distances at which fills occurred; dt: exposure time per fill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delta = torch.tensor([...]); dt = torch.tensor([...])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logA  = torch.zeros(1, requires_grad=True)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kappa = torch.ones(1,  requires_grad=True)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opt = torch.optim.Adam([logA, kappa], lr=0.05)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for step in range(2000):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lam = torch.exp(logA) * torch.exp(-kappa.clamp(min=1e-3) * delta)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nll = (lam * dt - torch.log(lam)).sum()          # Poisson negative log-lik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opt.zero_grad(); nll.backward(); opt.step()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print("A =", torch.exp(logA).item(), " kappa =", kappa.item())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Summary — 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Closed-form quotes become a vectorized, tested PyTorch engine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Calibrate A, kappa by MAXIMUM LIKELIHOOD (fills are Poisson), report chi-square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Backtest = replay + fill simulator + P&amp;L attribution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Reproducibility under a fixed seed is graded -- set your seeds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Milestone 1: engine within +/-50% of the reference P&amp;L, report &lt;= 10 pp.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Glossary — Key Terms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Maximum likelihood (MLE)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fitting parameters by maximizing the likelihood of the data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Poisson process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counting process for random arrivals (here, fills)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Goodness-of-fit (chi-square)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a statistic measuring how well the fit matches the data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Backtest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simulation of a strategy on historical data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Fill simulator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model of which of the maker's quotes get executed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P&amp;L attribution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decomposition of profit into its sources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Reproducibility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identical results on re-run under a fixed random seed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Avellaneda-Stoikov (2008) [implementation]; Gueant (2016), Ch. 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Avellaneda, M., &amp; Stoikov, S. (2008). High-frequency trading in a limit order book. Quantitative Finance, 8(3), 217-224.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Gueant, O. (2016). The Financial Mathematics of Market Liquidity, Ch. 4. Chapman &amp; Hall/CRC.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Cartea, Jaikumar, &amp; Penalva (2015). Algorithmic and High-Frequency Trading, Ch. 10.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Coincall API documentation. https://docs.coincall.com/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